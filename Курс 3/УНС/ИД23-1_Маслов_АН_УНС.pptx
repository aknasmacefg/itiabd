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6" r:id="rId3"/>
    <p:sldId id="258" r:id="rId4"/>
    <p:sldId id="259" r:id="rId5"/>
    <p:sldId id="262" r:id="rId6"/>
    <p:sldId id="263" r:id="rId7"/>
    <p:sldId id="261" r:id="rId8"/>
    <p:sldId id="26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>
        <p:scale>
          <a:sx n="75" d="100"/>
          <a:sy n="75" d="100"/>
        </p:scale>
        <p:origin x="-96" y="-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6D5ECD92-1D4B-4C92-88C6-1BDE7FDE9838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35776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0713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09074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4476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6821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1042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0871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9365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9370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8717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9697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6D5ECD92-1D4B-4C92-88C6-1BDE7FDE9838}" type="datetimeFigureOut">
              <a:rPr lang="ru-RU" smtClean="0"/>
              <a:t>01.04.2026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3467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B9855DB3-FE74-4372-A65E-059775BA74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3251" y="2075823"/>
            <a:ext cx="11145498" cy="1904271"/>
          </a:xfrm>
        </p:spPr>
        <p:txBody>
          <a:bodyPr>
            <a:noAutofit/>
          </a:bodyPr>
          <a:lstStyle/>
          <a:p>
            <a:pPr algn="ctr"/>
            <a:r>
              <a:rPr lang="ru-RU" sz="3000" b="1" dirty="0">
                <a:latin typeface="Helvetica" pitchFamily="34" charset="0"/>
                <a:ea typeface="Gungsuh" panose="02030600000101010101" pitchFamily="18" charset="-127"/>
                <a:cs typeface="Helvetica" pitchFamily="34" charset="0"/>
              </a:rPr>
              <a:t>Использование больших языковых моделей в сфере образования</a:t>
            </a:r>
            <a:endParaRPr lang="ru-RU" sz="3000" b="1" dirty="0">
              <a:solidFill>
                <a:schemeClr val="tx1"/>
              </a:solidFill>
              <a:latin typeface="Helvetica" pitchFamily="34" charset="0"/>
              <a:ea typeface="Gungsuh" panose="02030600000101010101" pitchFamily="18" charset="-127"/>
              <a:cs typeface="Helvetica" pitchFamily="34" charset="0"/>
            </a:endParaRPr>
          </a:p>
        </p:txBody>
      </p:sp>
      <p:sp>
        <p:nvSpPr>
          <p:cNvPr id="13" name="Подзаголовок 3">
            <a:extLst>
              <a:ext uri="{FF2B5EF4-FFF2-40B4-BE49-F238E27FC236}">
                <a16:creationId xmlns:a16="http://schemas.microsoft.com/office/drawing/2014/main" id="{DBA30209-B03D-4926-9971-C0F90B6080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8388" y="5005613"/>
            <a:ext cx="5492280" cy="1008113"/>
          </a:xfrm>
        </p:spPr>
        <p:txBody>
          <a:bodyPr>
            <a:normAutofit/>
          </a:bodyPr>
          <a:lstStyle/>
          <a:p>
            <a:pPr algn="r"/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Выполнил: Маслов А.Н.</a:t>
            </a:r>
            <a:b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</a:br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Группа ИД23-1</a:t>
            </a:r>
            <a:endParaRPr lang="ru-RU" sz="1800" dirty="0">
              <a:solidFill>
                <a:schemeClr val="tx1"/>
              </a:solidFill>
              <a:latin typeface="Helvetica" pitchFamily="34" charset="0"/>
              <a:cs typeface="Helvetica" pitchFamily="34" charset="0"/>
            </a:endParaRPr>
          </a:p>
        </p:txBody>
      </p:sp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3637A1B5-EC37-4D6A-986E-EA7F6FF17091}"/>
              </a:ext>
            </a:extLst>
          </p:cNvPr>
          <p:cNvSpPr txBox="1">
            <a:spLocks/>
          </p:cNvSpPr>
          <p:nvPr/>
        </p:nvSpPr>
        <p:spPr>
          <a:xfrm>
            <a:off x="1" y="313731"/>
            <a:ext cx="11554690" cy="104518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Федеральное государственное образовательное бюджетное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учреждение высшего образования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«Финансовый университет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при Правительстве Российской Федерации»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(Финансовый университет)</a:t>
            </a:r>
          </a:p>
        </p:txBody>
      </p:sp>
      <p:sp>
        <p:nvSpPr>
          <p:cNvPr id="15" name="Подзаголовок 3">
            <a:extLst>
              <a:ext uri="{FF2B5EF4-FFF2-40B4-BE49-F238E27FC236}">
                <a16:creationId xmlns:a16="http://schemas.microsoft.com/office/drawing/2014/main" id="{43434B29-5E19-4AA4-AB34-54838E05F8B2}"/>
              </a:ext>
            </a:extLst>
          </p:cNvPr>
          <p:cNvSpPr txBox="1">
            <a:spLocks/>
          </p:cNvSpPr>
          <p:nvPr/>
        </p:nvSpPr>
        <p:spPr>
          <a:xfrm>
            <a:off x="1072670" y="6013726"/>
            <a:ext cx="10316816" cy="4408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126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2199" kern="1200" spc="10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063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1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126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1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189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251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5314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2377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199440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6503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Москва </a:t>
            </a:r>
            <a:r>
              <a:rPr lang="en-US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20</a:t>
            </a:r>
            <a:r>
              <a:rPr lang="ru-RU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25 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A003531-51BF-4404-B3AB-FEEE09BBFFE4}"/>
              </a:ext>
            </a:extLst>
          </p:cNvPr>
          <p:cNvSpPr/>
          <p:nvPr/>
        </p:nvSpPr>
        <p:spPr>
          <a:xfrm>
            <a:off x="2831975" y="1542884"/>
            <a:ext cx="6092825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dirty="0"/>
              <a:t>Кафедра информационных технологий</a:t>
            </a:r>
            <a:endParaRPr lang="ru-RU" sz="1600" dirty="0">
              <a:latin typeface="Helvetica" pitchFamily="2" charset="0"/>
              <a:ea typeface="Times New Roman" panose="02020603050405020304" pitchFamily="18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71BF190-D41F-43AC-A7DF-852237B2442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91" y="231658"/>
            <a:ext cx="2267266" cy="89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552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9DC2FFD-23E5-E118-987A-0A9DB12A0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F1C79661-1BB9-C32B-41FA-CDC61FBB27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Активное развитие технологий искусственного интеллекта в последние годы привело к появлению больших языковых моделей, способных генерировать связный текст, отвечать на вопросы, анализировать и обобщать информацию. Эти возможности обусловили повышенный интерес к применению LLM в образовательной сфере. В российской научной литературе данная проблематика стала активно обсуждаться с 2023 года, что связано с распространением моделей типа ChatGPT и аналогичных систем</a:t>
            </a:r>
          </a:p>
        </p:txBody>
      </p:sp>
    </p:spTree>
    <p:extLst>
      <p:ext uri="{BB962C8B-B14F-4D97-AF65-F5344CB8AC3E}">
        <p14:creationId xmlns:p14="http://schemas.microsoft.com/office/powerpoint/2010/main" val="1178353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4E28EA-0FE0-7806-72E9-E92E14848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2D55563-220C-C6DB-CB19-FEF5D0191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Обзор и анализ российских научных публикаций, посвящённых использованию больших языковых моделей в образовании, а также выявление основных тенденций и проблем, отражённых в отечественных исследованиях.</a:t>
            </a:r>
          </a:p>
          <a:p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3855581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D08F2B-35D4-75F4-05A6-B1D035250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Влияние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A7B7C6-C1CE-1949-5ED0-7EB7FBA2C0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000" dirty="0"/>
              <a:t>Российские исследователи сходятся во мнении, что внедрение больших языковых моделей приводит к изменению роли преподавателя. Он всё в большей степени выступает не источником информации, а модератором и наставником, формирующим у студентов навыки критического мышления, анализа и осознанного использования цифровых инструментов.</a:t>
            </a:r>
          </a:p>
          <a:p>
            <a:r>
              <a:rPr lang="ru-RU" sz="2000" dirty="0"/>
              <a:t>Авторы сходятся во мнении, что LLM не являются самостоятельной педагогической технологией, а выступают инструментом, эффективность которого определяется методикой применения и уровнем цифровой компетентности пользователей </a:t>
            </a:r>
          </a:p>
        </p:txBody>
      </p:sp>
    </p:spTree>
    <p:extLst>
      <p:ext uri="{BB962C8B-B14F-4D97-AF65-F5344CB8AC3E}">
        <p14:creationId xmlns:p14="http://schemas.microsoft.com/office/powerpoint/2010/main" val="16567369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B16721-06DC-59DE-04FD-05FA8E4DF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Риски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F0E43F-7A82-0F2D-C122-A94DAA48E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3600" dirty="0"/>
              <a:t>Наиболее часто обсуждаемым риском в российских публикациях являются угрозы</a:t>
            </a:r>
            <a:r>
              <a:rPr lang="en-US" sz="3600" dirty="0"/>
              <a:t>:</a:t>
            </a:r>
          </a:p>
          <a:p>
            <a:r>
              <a:rPr lang="ru-RU" sz="3600" dirty="0"/>
              <a:t> академической нечестности</a:t>
            </a:r>
            <a:endParaRPr lang="en-US" sz="3600" dirty="0"/>
          </a:p>
          <a:p>
            <a:r>
              <a:rPr lang="ru-RU" sz="3600" dirty="0"/>
              <a:t>«галлюцинации» языковых моделей</a:t>
            </a:r>
          </a:p>
          <a:p>
            <a:r>
              <a:rPr lang="ru-RU" sz="3600" dirty="0"/>
              <a:t>нормативное регулирование</a:t>
            </a:r>
          </a:p>
        </p:txBody>
      </p:sp>
    </p:spTree>
    <p:extLst>
      <p:ext uri="{BB962C8B-B14F-4D97-AF65-F5344CB8AC3E}">
        <p14:creationId xmlns:p14="http://schemas.microsoft.com/office/powerpoint/2010/main" val="3741870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849DEB-4552-3387-65A1-8A572F974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Перспективные направления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B048353-957A-47BD-1D31-85C1AA7B28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/>
              <a:t>Среди перспективных направлений внедрения больших языковых моделей в образовательную практику в России выделяются: разработка отечественных языковых моделей, учитывающих специфику русского языка и образовательных стандартов; создание локальных корпоративных решений для вузов; интеграция LLM в электронные образовательные среды и системы дистанционного обучения. Отдельно подчёркивается важность методического сопровождения и подготовки преподавателей к использованию данных технологий.</a:t>
            </a:r>
          </a:p>
          <a:p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661153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7AAB3C-9318-C79A-E6A6-E8FBDB692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Сравнение преимуществ и недостатков разных больших языковых моделей</a:t>
            </a:r>
            <a:br>
              <a:rPr lang="ru-RU" dirty="0"/>
            </a:br>
            <a:endParaRPr lang="ru-RU" dirty="0"/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D3A3DAF9-40C5-B4D4-827C-F1D6ED65BC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9658620"/>
              </p:ext>
            </p:extLst>
          </p:nvPr>
        </p:nvGraphicFramePr>
        <p:xfrm>
          <a:off x="883920" y="1320800"/>
          <a:ext cx="9946639" cy="48593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69475">
                  <a:extLst>
                    <a:ext uri="{9D8B030D-6E8A-4147-A177-3AD203B41FA5}">
                      <a16:colId xmlns:a16="http://schemas.microsoft.com/office/drawing/2014/main" val="1756864948"/>
                    </a:ext>
                  </a:extLst>
                </a:gridCol>
                <a:gridCol w="1750004">
                  <a:extLst>
                    <a:ext uri="{9D8B030D-6E8A-4147-A177-3AD203B41FA5}">
                      <a16:colId xmlns:a16="http://schemas.microsoft.com/office/drawing/2014/main" val="2888553393"/>
                    </a:ext>
                  </a:extLst>
                </a:gridCol>
                <a:gridCol w="2372574">
                  <a:extLst>
                    <a:ext uri="{9D8B030D-6E8A-4147-A177-3AD203B41FA5}">
                      <a16:colId xmlns:a16="http://schemas.microsoft.com/office/drawing/2014/main" val="2670324195"/>
                    </a:ext>
                  </a:extLst>
                </a:gridCol>
                <a:gridCol w="2144401">
                  <a:extLst>
                    <a:ext uri="{9D8B030D-6E8A-4147-A177-3AD203B41FA5}">
                      <a16:colId xmlns:a16="http://schemas.microsoft.com/office/drawing/2014/main" val="2312963906"/>
                    </a:ext>
                  </a:extLst>
                </a:gridCol>
                <a:gridCol w="2010185">
                  <a:extLst>
                    <a:ext uri="{9D8B030D-6E8A-4147-A177-3AD203B41FA5}">
                      <a16:colId xmlns:a16="http://schemas.microsoft.com/office/drawing/2014/main" val="1339342657"/>
                    </a:ext>
                  </a:extLst>
                </a:gridCol>
              </a:tblGrid>
              <a:tr h="40938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Название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Разработчик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Плюсы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Минусы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Особенности в обучении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extLst>
                  <a:ext uri="{0D108BD9-81ED-4DB2-BD59-A6C34878D82A}">
                    <a16:rowId xmlns:a16="http://schemas.microsoft.com/office/drawing/2014/main" val="3209960084"/>
                  </a:ext>
                </a:extLst>
              </a:tr>
              <a:tr h="917466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</a:rPr>
                        <a:t>ChatGPT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</a:rPr>
                        <a:t>OpenAI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Высокое качество ответов, универсальность, поддержка диалога, генерация учебных материалов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Возможны «галлюцинации», риск списывания, платные функции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Персонализация обучения, помощь в написании работ, объяснение сложных тем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extLst>
                  <a:ext uri="{0D108BD9-81ED-4DB2-BD59-A6C34878D82A}">
                    <a16:rowId xmlns:a16="http://schemas.microsoft.com/office/drawing/2014/main" val="2344786376"/>
                  </a:ext>
                </a:extLst>
              </a:tr>
              <a:tr h="78561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</a:rPr>
                        <a:t>DeepSeek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</a:rPr>
                        <a:t>DeepSeek AI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Сильные математические и логические способности, хорош в программировании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Менее развитый диалог, ограниченная адаптация под образование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Полезен для технических дисциплин и решения задач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extLst>
                  <a:ext uri="{0D108BD9-81ED-4DB2-BD59-A6C34878D82A}">
                    <a16:rowId xmlns:a16="http://schemas.microsoft.com/office/drawing/2014/main" val="693744201"/>
                  </a:ext>
                </a:extLst>
              </a:tr>
              <a:tr h="653755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</a:rPr>
                        <a:t>Qwen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</a:rPr>
                        <a:t>Alibaba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Хорошая мультимодальность, поддержка разных языков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Меньше распространён в образовании, чем ChatGPT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Подходит для работы с текстами и мультимедиа в обучении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extLst>
                  <a:ext uri="{0D108BD9-81ED-4DB2-BD59-A6C34878D82A}">
                    <a16:rowId xmlns:a16="http://schemas.microsoft.com/office/drawing/2014/main" val="3407876208"/>
                  </a:ext>
                </a:extLst>
              </a:tr>
              <a:tr h="78561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</a:rPr>
                        <a:t>Gemini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</a:rPr>
                        <a:t>Google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Доступ к актуальной информации, мультимодальность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Иногда поверхностные ответы, зависит от экосистемы Google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Полезен для поиска и анализа информации, обучения через примеры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extLst>
                  <a:ext uri="{0D108BD9-81ED-4DB2-BD59-A6C34878D82A}">
                    <a16:rowId xmlns:a16="http://schemas.microsoft.com/office/drawing/2014/main" val="3005292699"/>
                  </a:ext>
                </a:extLst>
              </a:tr>
              <a:tr h="653755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Алиса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</a:rPr>
                        <a:t>Яндекс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Хорошо понимает русский язык, доступность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Ограниченная глубина ответов, не специализирована как LLM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Подходит для школьного уровня, быстрые ответы и помощь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extLst>
                  <a:ext uri="{0D108BD9-81ED-4DB2-BD59-A6C34878D82A}">
                    <a16:rowId xmlns:a16="http://schemas.microsoft.com/office/drawing/2014/main" val="275627292"/>
                  </a:ext>
                </a:extLst>
              </a:tr>
              <a:tr h="653755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Гигачат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kern="100">
                          <a:effectLst/>
                        </a:rPr>
                        <a:t>Сбер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Адаптация под русский язык и контекст, локальные решения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>
                          <a:effectLst/>
                        </a:rPr>
                        <a:t>Ограниченность по сравнению с западными моделями</a:t>
                      </a:r>
                      <a:endParaRPr lang="ru-RU" sz="11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100" kern="100" dirty="0">
                          <a:effectLst/>
                        </a:rPr>
                        <a:t>Перспективен для внедрения в российские образовательные системы</a:t>
                      </a:r>
                      <a:endParaRPr lang="ru-RU" sz="11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1375" marR="41375" marT="0" marB="0"/>
                </a:tc>
                <a:extLst>
                  <a:ext uri="{0D108BD9-81ED-4DB2-BD59-A6C34878D82A}">
                    <a16:rowId xmlns:a16="http://schemas.microsoft.com/office/drawing/2014/main" val="3954165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3503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AA4AF3A-8A25-D1D0-70CE-1DA6C8C02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9360" y="2301240"/>
            <a:ext cx="9692640" cy="1325562"/>
          </a:xfrm>
        </p:spPr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1048406369"/>
      </p:ext>
    </p:extLst>
  </p:cSld>
  <p:clrMapOvr>
    <a:masterClrMapping/>
  </p:clrMapOvr>
</p:sld>
</file>

<file path=ppt/theme/theme1.xml><?xml version="1.0" encoding="utf-8"?>
<a:theme xmlns:a="http://schemas.openxmlformats.org/drawingml/2006/main" name="Вид">
  <a:themeElements>
    <a:clrScheme name="Вид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Вид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Вид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TM03457515[[fn=Вид]]</Template>
  <TotalTime>206</TotalTime>
  <Words>470</Words>
  <Application>Microsoft Office PowerPoint</Application>
  <PresentationFormat>Широкоэкранный</PresentationFormat>
  <Paragraphs>60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Aptos</vt:lpstr>
      <vt:lpstr>Arial</vt:lpstr>
      <vt:lpstr>Century Schoolbook</vt:lpstr>
      <vt:lpstr>Helvetica</vt:lpstr>
      <vt:lpstr>Wingdings 2</vt:lpstr>
      <vt:lpstr>Вид</vt:lpstr>
      <vt:lpstr>Использование больших языковых моделей в сфере образования</vt:lpstr>
      <vt:lpstr>Введение</vt:lpstr>
      <vt:lpstr>Цель</vt:lpstr>
      <vt:lpstr>Влияние</vt:lpstr>
      <vt:lpstr>Риски</vt:lpstr>
      <vt:lpstr>Перспективные направления</vt:lpstr>
      <vt:lpstr>Сравнение преимуществ и недостатков разных больших языковых моделей 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Aknas Macefg</dc:creator>
  <cp:lastModifiedBy>Aknas Macefg</cp:lastModifiedBy>
  <cp:revision>3</cp:revision>
  <dcterms:created xsi:type="dcterms:W3CDTF">2026-03-31T13:14:27Z</dcterms:created>
  <dcterms:modified xsi:type="dcterms:W3CDTF">2026-04-01T18:21:26Z</dcterms:modified>
</cp:coreProperties>
</file>