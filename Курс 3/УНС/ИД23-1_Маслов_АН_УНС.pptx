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2" r:id="rId6"/>
    <p:sldId id="263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57" d="100"/>
          <a:sy n="57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5BCFB2-99C9-4B96-A7F6-DC9038C630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EB5ADCB-8B6E-4BE7-9D15-7CF5FB658D94}">
      <dgm:prSet/>
      <dgm:spPr/>
      <dgm:t>
        <a:bodyPr/>
        <a:lstStyle/>
        <a:p>
          <a:r>
            <a:rPr lang="ru-RU" baseline="0"/>
            <a:t>Российские исследователи сходятся во мнении, что внедрение больших языковых моделей приводит к изменению роли преподавателя. Он всё в большей степени выступает не источником информации, а модератором и наставником, формирующим у студентов навыки критического мышления, анализа и осознанного использования цифровых инструментов.</a:t>
          </a:r>
          <a:endParaRPr lang="en-US"/>
        </a:p>
      </dgm:t>
    </dgm:pt>
    <dgm:pt modelId="{175B6F52-0913-4B22-90C0-729DBC98713F}" type="parTrans" cxnId="{888D44D7-C931-4B1F-B8A0-2370EAB3B590}">
      <dgm:prSet/>
      <dgm:spPr/>
      <dgm:t>
        <a:bodyPr/>
        <a:lstStyle/>
        <a:p>
          <a:endParaRPr lang="en-US"/>
        </a:p>
      </dgm:t>
    </dgm:pt>
    <dgm:pt modelId="{8CFCE8DB-32CD-4511-BCB0-FA7BC503953E}" type="sibTrans" cxnId="{888D44D7-C931-4B1F-B8A0-2370EAB3B590}">
      <dgm:prSet/>
      <dgm:spPr/>
      <dgm:t>
        <a:bodyPr/>
        <a:lstStyle/>
        <a:p>
          <a:endParaRPr lang="en-US"/>
        </a:p>
      </dgm:t>
    </dgm:pt>
    <dgm:pt modelId="{E8D78DE8-574D-42DA-AA0B-21BAC6FC4CAF}">
      <dgm:prSet/>
      <dgm:spPr/>
      <dgm:t>
        <a:bodyPr/>
        <a:lstStyle/>
        <a:p>
          <a:r>
            <a:rPr lang="ru-RU" baseline="0" dirty="0"/>
            <a:t>Также они сходятся во мнении, что LLM не являются самостоятельной педагогической технологией, а выступают инструментом, эффективность которого определяется методикой применения и уровнем цифровой компетентности пользователей </a:t>
          </a:r>
          <a:endParaRPr lang="en-US" dirty="0"/>
        </a:p>
      </dgm:t>
    </dgm:pt>
    <dgm:pt modelId="{65012946-E927-4817-8C2B-36638405C720}" type="parTrans" cxnId="{3F950FB1-FD02-475F-8F9C-BCE8A6552158}">
      <dgm:prSet/>
      <dgm:spPr/>
      <dgm:t>
        <a:bodyPr/>
        <a:lstStyle/>
        <a:p>
          <a:endParaRPr lang="en-US"/>
        </a:p>
      </dgm:t>
    </dgm:pt>
    <dgm:pt modelId="{1E739F8F-2351-4FCF-9CD2-ED9B9E95C2CF}" type="sibTrans" cxnId="{3F950FB1-FD02-475F-8F9C-BCE8A6552158}">
      <dgm:prSet/>
      <dgm:spPr/>
      <dgm:t>
        <a:bodyPr/>
        <a:lstStyle/>
        <a:p>
          <a:endParaRPr lang="en-US"/>
        </a:p>
      </dgm:t>
    </dgm:pt>
    <dgm:pt modelId="{77337821-CFB8-422A-A5BD-F5C874401CD9}" type="pres">
      <dgm:prSet presAssocID="{AD5BCFB2-99C9-4B96-A7F6-DC9038C63060}" presName="root" presStyleCnt="0">
        <dgm:presLayoutVars>
          <dgm:dir/>
          <dgm:resizeHandles val="exact"/>
        </dgm:presLayoutVars>
      </dgm:prSet>
      <dgm:spPr/>
    </dgm:pt>
    <dgm:pt modelId="{7ECB6E58-2421-43C9-9762-D914E502574B}" type="pres">
      <dgm:prSet presAssocID="{9EB5ADCB-8B6E-4BE7-9D15-7CF5FB658D94}" presName="compNode" presStyleCnt="0"/>
      <dgm:spPr/>
    </dgm:pt>
    <dgm:pt modelId="{35B6D5B5-7F05-4419-89E9-908787F814E1}" type="pres">
      <dgm:prSet presAssocID="{9EB5ADCB-8B6E-4BE7-9D15-7CF5FB658D94}" presName="bgRect" presStyleLbl="bgShp" presStyleIdx="0" presStyleCnt="2"/>
      <dgm:spPr/>
    </dgm:pt>
    <dgm:pt modelId="{AD12AB43-74A3-434C-9E82-87423BC4A22A}" type="pres">
      <dgm:prSet presAssocID="{9EB5ADCB-8B6E-4BE7-9D15-7CF5FB658D9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F5FDFBDE-BB4D-4A4D-8502-A5C1667EFA9C}" type="pres">
      <dgm:prSet presAssocID="{9EB5ADCB-8B6E-4BE7-9D15-7CF5FB658D94}" presName="spaceRect" presStyleCnt="0"/>
      <dgm:spPr/>
    </dgm:pt>
    <dgm:pt modelId="{2068F52B-DFBF-4129-B41F-714C6ACD11C7}" type="pres">
      <dgm:prSet presAssocID="{9EB5ADCB-8B6E-4BE7-9D15-7CF5FB658D94}" presName="parTx" presStyleLbl="revTx" presStyleIdx="0" presStyleCnt="2">
        <dgm:presLayoutVars>
          <dgm:chMax val="0"/>
          <dgm:chPref val="0"/>
        </dgm:presLayoutVars>
      </dgm:prSet>
      <dgm:spPr/>
    </dgm:pt>
    <dgm:pt modelId="{AB0F13BD-F239-4B95-B6F8-217A2D3ED0F1}" type="pres">
      <dgm:prSet presAssocID="{8CFCE8DB-32CD-4511-BCB0-FA7BC503953E}" presName="sibTrans" presStyleCnt="0"/>
      <dgm:spPr/>
    </dgm:pt>
    <dgm:pt modelId="{7D5F8FA7-5E6A-4554-B88C-05D7894E45C9}" type="pres">
      <dgm:prSet presAssocID="{E8D78DE8-574D-42DA-AA0B-21BAC6FC4CAF}" presName="compNode" presStyleCnt="0"/>
      <dgm:spPr/>
    </dgm:pt>
    <dgm:pt modelId="{F8636798-32E4-4AB8-A2CC-A6909531EA94}" type="pres">
      <dgm:prSet presAssocID="{E8D78DE8-574D-42DA-AA0B-21BAC6FC4CAF}" presName="bgRect" presStyleLbl="bgShp" presStyleIdx="1" presStyleCnt="2"/>
      <dgm:spPr/>
    </dgm:pt>
    <dgm:pt modelId="{661F9D01-FD81-4D22-AB44-A6F3C561D014}" type="pres">
      <dgm:prSet presAssocID="{E8D78DE8-574D-42DA-AA0B-21BAC6FC4CA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Пешком"/>
        </a:ext>
      </dgm:extLst>
    </dgm:pt>
    <dgm:pt modelId="{B164B06B-E8BE-4A9D-A555-DD95FC9C080B}" type="pres">
      <dgm:prSet presAssocID="{E8D78DE8-574D-42DA-AA0B-21BAC6FC4CAF}" presName="spaceRect" presStyleCnt="0"/>
      <dgm:spPr/>
    </dgm:pt>
    <dgm:pt modelId="{97DD26DC-BB44-4D1D-B157-C3AC120222A2}" type="pres">
      <dgm:prSet presAssocID="{E8D78DE8-574D-42DA-AA0B-21BAC6FC4CA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9750535-DFF2-446D-826C-D2DDBA3BCA5D}" type="presOf" srcId="{9EB5ADCB-8B6E-4BE7-9D15-7CF5FB658D94}" destId="{2068F52B-DFBF-4129-B41F-714C6ACD11C7}" srcOrd="0" destOrd="0" presId="urn:microsoft.com/office/officeart/2018/2/layout/IconVerticalSolidList"/>
    <dgm:cxn modelId="{330EBD6F-8E85-4592-9FBA-35E50C7CDF61}" type="presOf" srcId="{E8D78DE8-574D-42DA-AA0B-21BAC6FC4CAF}" destId="{97DD26DC-BB44-4D1D-B157-C3AC120222A2}" srcOrd="0" destOrd="0" presId="urn:microsoft.com/office/officeart/2018/2/layout/IconVerticalSolidList"/>
    <dgm:cxn modelId="{CA45DF6F-1BFF-4222-9C02-C8C817E54D8E}" type="presOf" srcId="{AD5BCFB2-99C9-4B96-A7F6-DC9038C63060}" destId="{77337821-CFB8-422A-A5BD-F5C874401CD9}" srcOrd="0" destOrd="0" presId="urn:microsoft.com/office/officeart/2018/2/layout/IconVerticalSolidList"/>
    <dgm:cxn modelId="{3F950FB1-FD02-475F-8F9C-BCE8A6552158}" srcId="{AD5BCFB2-99C9-4B96-A7F6-DC9038C63060}" destId="{E8D78DE8-574D-42DA-AA0B-21BAC6FC4CAF}" srcOrd="1" destOrd="0" parTransId="{65012946-E927-4817-8C2B-36638405C720}" sibTransId="{1E739F8F-2351-4FCF-9CD2-ED9B9E95C2CF}"/>
    <dgm:cxn modelId="{888D44D7-C931-4B1F-B8A0-2370EAB3B590}" srcId="{AD5BCFB2-99C9-4B96-A7F6-DC9038C63060}" destId="{9EB5ADCB-8B6E-4BE7-9D15-7CF5FB658D94}" srcOrd="0" destOrd="0" parTransId="{175B6F52-0913-4B22-90C0-729DBC98713F}" sibTransId="{8CFCE8DB-32CD-4511-BCB0-FA7BC503953E}"/>
    <dgm:cxn modelId="{5E788E82-A503-45D1-9009-2D97618481FB}" type="presParOf" srcId="{77337821-CFB8-422A-A5BD-F5C874401CD9}" destId="{7ECB6E58-2421-43C9-9762-D914E502574B}" srcOrd="0" destOrd="0" presId="urn:microsoft.com/office/officeart/2018/2/layout/IconVerticalSolidList"/>
    <dgm:cxn modelId="{7568971A-3F1C-4AE2-A30C-AB4C38CE5F66}" type="presParOf" srcId="{7ECB6E58-2421-43C9-9762-D914E502574B}" destId="{35B6D5B5-7F05-4419-89E9-908787F814E1}" srcOrd="0" destOrd="0" presId="urn:microsoft.com/office/officeart/2018/2/layout/IconVerticalSolidList"/>
    <dgm:cxn modelId="{7D6DBC72-1074-498A-9461-260FABEC2E8A}" type="presParOf" srcId="{7ECB6E58-2421-43C9-9762-D914E502574B}" destId="{AD12AB43-74A3-434C-9E82-87423BC4A22A}" srcOrd="1" destOrd="0" presId="urn:microsoft.com/office/officeart/2018/2/layout/IconVerticalSolidList"/>
    <dgm:cxn modelId="{21B0422B-543F-49A1-8056-41BD1B9BD25C}" type="presParOf" srcId="{7ECB6E58-2421-43C9-9762-D914E502574B}" destId="{F5FDFBDE-BB4D-4A4D-8502-A5C1667EFA9C}" srcOrd="2" destOrd="0" presId="urn:microsoft.com/office/officeart/2018/2/layout/IconVerticalSolidList"/>
    <dgm:cxn modelId="{25681C7A-D728-4C2E-99F3-11EB23957708}" type="presParOf" srcId="{7ECB6E58-2421-43C9-9762-D914E502574B}" destId="{2068F52B-DFBF-4129-B41F-714C6ACD11C7}" srcOrd="3" destOrd="0" presId="urn:microsoft.com/office/officeart/2018/2/layout/IconVerticalSolidList"/>
    <dgm:cxn modelId="{E564E279-1AAA-4030-95E4-1934DF5F038E}" type="presParOf" srcId="{77337821-CFB8-422A-A5BD-F5C874401CD9}" destId="{AB0F13BD-F239-4B95-B6F8-217A2D3ED0F1}" srcOrd="1" destOrd="0" presId="urn:microsoft.com/office/officeart/2018/2/layout/IconVerticalSolidList"/>
    <dgm:cxn modelId="{D63C3738-25BF-4CB5-A063-74F28B763695}" type="presParOf" srcId="{77337821-CFB8-422A-A5BD-F5C874401CD9}" destId="{7D5F8FA7-5E6A-4554-B88C-05D7894E45C9}" srcOrd="2" destOrd="0" presId="urn:microsoft.com/office/officeart/2018/2/layout/IconVerticalSolidList"/>
    <dgm:cxn modelId="{6E74ABFD-F9B8-4FC1-AF05-8FEDB99393DC}" type="presParOf" srcId="{7D5F8FA7-5E6A-4554-B88C-05D7894E45C9}" destId="{F8636798-32E4-4AB8-A2CC-A6909531EA94}" srcOrd="0" destOrd="0" presId="urn:microsoft.com/office/officeart/2018/2/layout/IconVerticalSolidList"/>
    <dgm:cxn modelId="{C9A97353-D26A-46AA-8CF9-22B9BBE5D879}" type="presParOf" srcId="{7D5F8FA7-5E6A-4554-B88C-05D7894E45C9}" destId="{661F9D01-FD81-4D22-AB44-A6F3C561D014}" srcOrd="1" destOrd="0" presId="urn:microsoft.com/office/officeart/2018/2/layout/IconVerticalSolidList"/>
    <dgm:cxn modelId="{8E9D2CD9-55A3-48D7-8F7F-F95C9F135F25}" type="presParOf" srcId="{7D5F8FA7-5E6A-4554-B88C-05D7894E45C9}" destId="{B164B06B-E8BE-4A9D-A555-DD95FC9C080B}" srcOrd="2" destOrd="0" presId="urn:microsoft.com/office/officeart/2018/2/layout/IconVerticalSolidList"/>
    <dgm:cxn modelId="{60433ED3-0A0B-4790-803B-CFDEA7261682}" type="presParOf" srcId="{7D5F8FA7-5E6A-4554-B88C-05D7894E45C9}" destId="{97DD26DC-BB44-4D1D-B157-C3AC120222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18625F-9509-491E-BCAE-55747D15975B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9193987-8101-43D8-9701-4BD883559726}">
      <dgm:prSet/>
      <dgm:spPr/>
      <dgm:t>
        <a:bodyPr/>
        <a:lstStyle/>
        <a:p>
          <a:r>
            <a:rPr lang="ru-RU" dirty="0"/>
            <a:t>Риски</a:t>
          </a:r>
          <a:endParaRPr lang="en-US" dirty="0"/>
        </a:p>
      </dgm:t>
    </dgm:pt>
    <dgm:pt modelId="{0BB5E093-1B3A-433A-829B-5DE60FA0F402}" type="parTrans" cxnId="{A9AECB52-523D-4EC3-AEE5-DD58853983C9}">
      <dgm:prSet/>
      <dgm:spPr/>
      <dgm:t>
        <a:bodyPr/>
        <a:lstStyle/>
        <a:p>
          <a:endParaRPr lang="en-US"/>
        </a:p>
      </dgm:t>
    </dgm:pt>
    <dgm:pt modelId="{F5808E76-7C99-4DA0-8E80-B3BC164EDA59}" type="sibTrans" cxnId="{A9AECB52-523D-4EC3-AEE5-DD58853983C9}">
      <dgm:prSet/>
      <dgm:spPr/>
      <dgm:t>
        <a:bodyPr/>
        <a:lstStyle/>
        <a:p>
          <a:endParaRPr lang="en-US"/>
        </a:p>
      </dgm:t>
    </dgm:pt>
    <dgm:pt modelId="{59E03643-E6E1-4281-B04A-7D7DFDC4CEE0}">
      <dgm:prSet/>
      <dgm:spPr/>
      <dgm:t>
        <a:bodyPr/>
        <a:lstStyle/>
        <a:p>
          <a:r>
            <a:rPr lang="ru-RU" baseline="0"/>
            <a:t>академической нечестности</a:t>
          </a:r>
          <a:endParaRPr lang="en-US"/>
        </a:p>
      </dgm:t>
    </dgm:pt>
    <dgm:pt modelId="{51180EB5-68F9-4A62-974C-97F1D6E913EC}" type="parTrans" cxnId="{98C9EB36-8B30-4702-A023-B0DE493E12C5}">
      <dgm:prSet/>
      <dgm:spPr/>
      <dgm:t>
        <a:bodyPr/>
        <a:lstStyle/>
        <a:p>
          <a:endParaRPr lang="en-US"/>
        </a:p>
      </dgm:t>
    </dgm:pt>
    <dgm:pt modelId="{3A2EC777-3706-4D1E-9A8C-AD36404C3CFA}" type="sibTrans" cxnId="{98C9EB36-8B30-4702-A023-B0DE493E12C5}">
      <dgm:prSet/>
      <dgm:spPr/>
      <dgm:t>
        <a:bodyPr/>
        <a:lstStyle/>
        <a:p>
          <a:endParaRPr lang="en-US"/>
        </a:p>
      </dgm:t>
    </dgm:pt>
    <dgm:pt modelId="{8C4A0970-7AE9-4027-AE72-583FF50C6FCA}">
      <dgm:prSet/>
      <dgm:spPr/>
      <dgm:t>
        <a:bodyPr/>
        <a:lstStyle/>
        <a:p>
          <a:r>
            <a:rPr lang="ru-RU" baseline="0"/>
            <a:t>«галлюцинации» языковых моделей</a:t>
          </a:r>
          <a:endParaRPr lang="en-US"/>
        </a:p>
      </dgm:t>
    </dgm:pt>
    <dgm:pt modelId="{4CCB1107-078E-40E1-A8B1-3A3819753469}" type="parTrans" cxnId="{4E691D21-BD3C-45C6-84E5-A56FBDA12BA9}">
      <dgm:prSet/>
      <dgm:spPr/>
      <dgm:t>
        <a:bodyPr/>
        <a:lstStyle/>
        <a:p>
          <a:endParaRPr lang="en-US"/>
        </a:p>
      </dgm:t>
    </dgm:pt>
    <dgm:pt modelId="{38F054C5-CE6A-4FF2-871A-636695AC3773}" type="sibTrans" cxnId="{4E691D21-BD3C-45C6-84E5-A56FBDA12BA9}">
      <dgm:prSet/>
      <dgm:spPr/>
      <dgm:t>
        <a:bodyPr/>
        <a:lstStyle/>
        <a:p>
          <a:endParaRPr lang="en-US"/>
        </a:p>
      </dgm:t>
    </dgm:pt>
    <dgm:pt modelId="{9AF18987-13CB-4A04-B4A1-3FE2FEBC255E}">
      <dgm:prSet/>
      <dgm:spPr/>
      <dgm:t>
        <a:bodyPr/>
        <a:lstStyle/>
        <a:p>
          <a:r>
            <a:rPr lang="ru-RU" baseline="0"/>
            <a:t>нормативное регулирование</a:t>
          </a:r>
          <a:endParaRPr lang="en-US"/>
        </a:p>
      </dgm:t>
    </dgm:pt>
    <dgm:pt modelId="{22A83A0E-BEF4-41D1-9A0F-4EFC9F3FFFDB}" type="parTrans" cxnId="{03B872F3-1FF7-4681-89C5-8B08EE1834FE}">
      <dgm:prSet/>
      <dgm:spPr/>
      <dgm:t>
        <a:bodyPr/>
        <a:lstStyle/>
        <a:p>
          <a:endParaRPr lang="en-US"/>
        </a:p>
      </dgm:t>
    </dgm:pt>
    <dgm:pt modelId="{E420B78F-EBF0-43D5-A2A6-1DC373338C96}" type="sibTrans" cxnId="{03B872F3-1FF7-4681-89C5-8B08EE1834FE}">
      <dgm:prSet/>
      <dgm:spPr/>
      <dgm:t>
        <a:bodyPr/>
        <a:lstStyle/>
        <a:p>
          <a:endParaRPr lang="en-US"/>
        </a:p>
      </dgm:t>
    </dgm:pt>
    <dgm:pt modelId="{EA9194AF-0373-41D8-A04A-58C85C223F99}" type="pres">
      <dgm:prSet presAssocID="{0518625F-9509-491E-BCAE-55747D15975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4140E40-7C55-4673-BA77-464F27518CDE}" type="pres">
      <dgm:prSet presAssocID="{D9193987-8101-43D8-9701-4BD883559726}" presName="hierRoot1" presStyleCnt="0"/>
      <dgm:spPr/>
    </dgm:pt>
    <dgm:pt modelId="{7FF6FB9E-0806-43EB-9323-438FBA819467}" type="pres">
      <dgm:prSet presAssocID="{D9193987-8101-43D8-9701-4BD883559726}" presName="composite" presStyleCnt="0"/>
      <dgm:spPr/>
    </dgm:pt>
    <dgm:pt modelId="{5078DE82-6AB0-474D-9535-CB9E2E71C2BF}" type="pres">
      <dgm:prSet presAssocID="{D9193987-8101-43D8-9701-4BD883559726}" presName="background" presStyleLbl="node0" presStyleIdx="0" presStyleCnt="1"/>
      <dgm:spPr/>
    </dgm:pt>
    <dgm:pt modelId="{DD8A2743-3896-4F42-9095-2AC4307E66E2}" type="pres">
      <dgm:prSet presAssocID="{D9193987-8101-43D8-9701-4BD883559726}" presName="text" presStyleLbl="fgAcc0" presStyleIdx="0" presStyleCnt="1">
        <dgm:presLayoutVars>
          <dgm:chPref val="3"/>
        </dgm:presLayoutVars>
      </dgm:prSet>
      <dgm:spPr/>
    </dgm:pt>
    <dgm:pt modelId="{B6C69ADB-C586-4ACF-A818-9B1C17BC748D}" type="pres">
      <dgm:prSet presAssocID="{D9193987-8101-43D8-9701-4BD883559726}" presName="hierChild2" presStyleCnt="0"/>
      <dgm:spPr/>
    </dgm:pt>
    <dgm:pt modelId="{CBAA838E-6914-4E30-9E05-A7A9C5ADE2F9}" type="pres">
      <dgm:prSet presAssocID="{51180EB5-68F9-4A62-974C-97F1D6E913EC}" presName="Name10" presStyleLbl="parChTrans1D2" presStyleIdx="0" presStyleCnt="3"/>
      <dgm:spPr/>
    </dgm:pt>
    <dgm:pt modelId="{EB0FDFC1-C20B-4540-AFC5-F95B0362F531}" type="pres">
      <dgm:prSet presAssocID="{59E03643-E6E1-4281-B04A-7D7DFDC4CEE0}" presName="hierRoot2" presStyleCnt="0"/>
      <dgm:spPr/>
    </dgm:pt>
    <dgm:pt modelId="{F1E5269C-85A7-441B-AD6B-444701B56010}" type="pres">
      <dgm:prSet presAssocID="{59E03643-E6E1-4281-B04A-7D7DFDC4CEE0}" presName="composite2" presStyleCnt="0"/>
      <dgm:spPr/>
    </dgm:pt>
    <dgm:pt modelId="{DA563EA3-48D3-46D0-B68D-A51A4235941C}" type="pres">
      <dgm:prSet presAssocID="{59E03643-E6E1-4281-B04A-7D7DFDC4CEE0}" presName="background2" presStyleLbl="node2" presStyleIdx="0" presStyleCnt="3"/>
      <dgm:spPr/>
    </dgm:pt>
    <dgm:pt modelId="{EFEB9268-E797-4F69-8E56-B45D35098714}" type="pres">
      <dgm:prSet presAssocID="{59E03643-E6E1-4281-B04A-7D7DFDC4CEE0}" presName="text2" presStyleLbl="fgAcc2" presStyleIdx="0" presStyleCnt="3">
        <dgm:presLayoutVars>
          <dgm:chPref val="3"/>
        </dgm:presLayoutVars>
      </dgm:prSet>
      <dgm:spPr/>
    </dgm:pt>
    <dgm:pt modelId="{824A0CB2-F604-48AC-AD02-7D44041CF740}" type="pres">
      <dgm:prSet presAssocID="{59E03643-E6E1-4281-B04A-7D7DFDC4CEE0}" presName="hierChild3" presStyleCnt="0"/>
      <dgm:spPr/>
    </dgm:pt>
    <dgm:pt modelId="{7C0E5BCA-9C3A-4859-9EFD-44628139DCA7}" type="pres">
      <dgm:prSet presAssocID="{4CCB1107-078E-40E1-A8B1-3A3819753469}" presName="Name10" presStyleLbl="parChTrans1D2" presStyleIdx="1" presStyleCnt="3"/>
      <dgm:spPr/>
    </dgm:pt>
    <dgm:pt modelId="{5428F3BA-3FF2-4FFF-A1B4-981A384C6053}" type="pres">
      <dgm:prSet presAssocID="{8C4A0970-7AE9-4027-AE72-583FF50C6FCA}" presName="hierRoot2" presStyleCnt="0"/>
      <dgm:spPr/>
    </dgm:pt>
    <dgm:pt modelId="{2C88F6E2-58A9-457F-AD92-3937D6D56006}" type="pres">
      <dgm:prSet presAssocID="{8C4A0970-7AE9-4027-AE72-583FF50C6FCA}" presName="composite2" presStyleCnt="0"/>
      <dgm:spPr/>
    </dgm:pt>
    <dgm:pt modelId="{B9D6C9AC-24E6-4BF1-A657-C51C1B19E7DB}" type="pres">
      <dgm:prSet presAssocID="{8C4A0970-7AE9-4027-AE72-583FF50C6FCA}" presName="background2" presStyleLbl="node2" presStyleIdx="1" presStyleCnt="3"/>
      <dgm:spPr/>
    </dgm:pt>
    <dgm:pt modelId="{341CC215-21C5-435D-8163-C7372573831D}" type="pres">
      <dgm:prSet presAssocID="{8C4A0970-7AE9-4027-AE72-583FF50C6FCA}" presName="text2" presStyleLbl="fgAcc2" presStyleIdx="1" presStyleCnt="3">
        <dgm:presLayoutVars>
          <dgm:chPref val="3"/>
        </dgm:presLayoutVars>
      </dgm:prSet>
      <dgm:spPr/>
    </dgm:pt>
    <dgm:pt modelId="{96064DF2-7024-4350-A8FF-86FEFE42D7E6}" type="pres">
      <dgm:prSet presAssocID="{8C4A0970-7AE9-4027-AE72-583FF50C6FCA}" presName="hierChild3" presStyleCnt="0"/>
      <dgm:spPr/>
    </dgm:pt>
    <dgm:pt modelId="{86932DE1-8D02-4AB8-810E-634DC890F336}" type="pres">
      <dgm:prSet presAssocID="{22A83A0E-BEF4-41D1-9A0F-4EFC9F3FFFDB}" presName="Name10" presStyleLbl="parChTrans1D2" presStyleIdx="2" presStyleCnt="3"/>
      <dgm:spPr/>
    </dgm:pt>
    <dgm:pt modelId="{A6EB6E25-2881-45C7-AC17-58406C19BE4F}" type="pres">
      <dgm:prSet presAssocID="{9AF18987-13CB-4A04-B4A1-3FE2FEBC255E}" presName="hierRoot2" presStyleCnt="0"/>
      <dgm:spPr/>
    </dgm:pt>
    <dgm:pt modelId="{2922B3FD-D9A2-43D5-9D4D-3D30939B62DA}" type="pres">
      <dgm:prSet presAssocID="{9AF18987-13CB-4A04-B4A1-3FE2FEBC255E}" presName="composite2" presStyleCnt="0"/>
      <dgm:spPr/>
    </dgm:pt>
    <dgm:pt modelId="{BDF651BC-E07E-4091-9B9F-5B1923C2F297}" type="pres">
      <dgm:prSet presAssocID="{9AF18987-13CB-4A04-B4A1-3FE2FEBC255E}" presName="background2" presStyleLbl="node2" presStyleIdx="2" presStyleCnt="3"/>
      <dgm:spPr/>
    </dgm:pt>
    <dgm:pt modelId="{6470AECC-C311-47BE-BDEC-57FDE0753C4B}" type="pres">
      <dgm:prSet presAssocID="{9AF18987-13CB-4A04-B4A1-3FE2FEBC255E}" presName="text2" presStyleLbl="fgAcc2" presStyleIdx="2" presStyleCnt="3">
        <dgm:presLayoutVars>
          <dgm:chPref val="3"/>
        </dgm:presLayoutVars>
      </dgm:prSet>
      <dgm:spPr/>
    </dgm:pt>
    <dgm:pt modelId="{E75735A6-F2EC-4A73-A30C-78AD7B41CF71}" type="pres">
      <dgm:prSet presAssocID="{9AF18987-13CB-4A04-B4A1-3FE2FEBC255E}" presName="hierChild3" presStyleCnt="0"/>
      <dgm:spPr/>
    </dgm:pt>
  </dgm:ptLst>
  <dgm:cxnLst>
    <dgm:cxn modelId="{4E691D21-BD3C-45C6-84E5-A56FBDA12BA9}" srcId="{D9193987-8101-43D8-9701-4BD883559726}" destId="{8C4A0970-7AE9-4027-AE72-583FF50C6FCA}" srcOrd="1" destOrd="0" parTransId="{4CCB1107-078E-40E1-A8B1-3A3819753469}" sibTransId="{38F054C5-CE6A-4FF2-871A-636695AC3773}"/>
    <dgm:cxn modelId="{98C9EB36-8B30-4702-A023-B0DE493E12C5}" srcId="{D9193987-8101-43D8-9701-4BD883559726}" destId="{59E03643-E6E1-4281-B04A-7D7DFDC4CEE0}" srcOrd="0" destOrd="0" parTransId="{51180EB5-68F9-4A62-974C-97F1D6E913EC}" sibTransId="{3A2EC777-3706-4D1E-9A8C-AD36404C3CFA}"/>
    <dgm:cxn modelId="{A9AECB52-523D-4EC3-AEE5-DD58853983C9}" srcId="{0518625F-9509-491E-BCAE-55747D15975B}" destId="{D9193987-8101-43D8-9701-4BD883559726}" srcOrd="0" destOrd="0" parTransId="{0BB5E093-1B3A-433A-829B-5DE60FA0F402}" sibTransId="{F5808E76-7C99-4DA0-8E80-B3BC164EDA59}"/>
    <dgm:cxn modelId="{CDA49E90-A25C-4788-92A9-877BCAA108FE}" type="presOf" srcId="{8C4A0970-7AE9-4027-AE72-583FF50C6FCA}" destId="{341CC215-21C5-435D-8163-C7372573831D}" srcOrd="0" destOrd="0" presId="urn:microsoft.com/office/officeart/2005/8/layout/hierarchy1"/>
    <dgm:cxn modelId="{94C7159B-EBD3-4C4E-851F-441170621B5D}" type="presOf" srcId="{0518625F-9509-491E-BCAE-55747D15975B}" destId="{EA9194AF-0373-41D8-A04A-58C85C223F99}" srcOrd="0" destOrd="0" presId="urn:microsoft.com/office/officeart/2005/8/layout/hierarchy1"/>
    <dgm:cxn modelId="{AC43D6AE-A23E-4BD4-AEA2-543A7B7B7340}" type="presOf" srcId="{9AF18987-13CB-4A04-B4A1-3FE2FEBC255E}" destId="{6470AECC-C311-47BE-BDEC-57FDE0753C4B}" srcOrd="0" destOrd="0" presId="urn:microsoft.com/office/officeart/2005/8/layout/hierarchy1"/>
    <dgm:cxn modelId="{CD4E57BD-4ECD-4A85-8F9D-DC9CD96653A0}" type="presOf" srcId="{22A83A0E-BEF4-41D1-9A0F-4EFC9F3FFFDB}" destId="{86932DE1-8D02-4AB8-810E-634DC890F336}" srcOrd="0" destOrd="0" presId="urn:microsoft.com/office/officeart/2005/8/layout/hierarchy1"/>
    <dgm:cxn modelId="{104AE8BE-2508-4363-9ADF-54F56D78632D}" type="presOf" srcId="{D9193987-8101-43D8-9701-4BD883559726}" destId="{DD8A2743-3896-4F42-9095-2AC4307E66E2}" srcOrd="0" destOrd="0" presId="urn:microsoft.com/office/officeart/2005/8/layout/hierarchy1"/>
    <dgm:cxn modelId="{FA8B7EE3-EA1E-4772-944E-D35998930D1A}" type="presOf" srcId="{51180EB5-68F9-4A62-974C-97F1D6E913EC}" destId="{CBAA838E-6914-4E30-9E05-A7A9C5ADE2F9}" srcOrd="0" destOrd="0" presId="urn:microsoft.com/office/officeart/2005/8/layout/hierarchy1"/>
    <dgm:cxn modelId="{A849BEE5-7A7F-4589-9D13-5263950D6880}" type="presOf" srcId="{59E03643-E6E1-4281-B04A-7D7DFDC4CEE0}" destId="{EFEB9268-E797-4F69-8E56-B45D35098714}" srcOrd="0" destOrd="0" presId="urn:microsoft.com/office/officeart/2005/8/layout/hierarchy1"/>
    <dgm:cxn modelId="{06F5FDEE-D19E-4EE6-BB35-D33C490C17F5}" type="presOf" srcId="{4CCB1107-078E-40E1-A8B1-3A3819753469}" destId="{7C0E5BCA-9C3A-4859-9EFD-44628139DCA7}" srcOrd="0" destOrd="0" presId="urn:microsoft.com/office/officeart/2005/8/layout/hierarchy1"/>
    <dgm:cxn modelId="{03B872F3-1FF7-4681-89C5-8B08EE1834FE}" srcId="{D9193987-8101-43D8-9701-4BD883559726}" destId="{9AF18987-13CB-4A04-B4A1-3FE2FEBC255E}" srcOrd="2" destOrd="0" parTransId="{22A83A0E-BEF4-41D1-9A0F-4EFC9F3FFFDB}" sibTransId="{E420B78F-EBF0-43D5-A2A6-1DC373338C96}"/>
    <dgm:cxn modelId="{F3A1E3FF-3DC3-4077-9351-298F9705B499}" type="presParOf" srcId="{EA9194AF-0373-41D8-A04A-58C85C223F99}" destId="{34140E40-7C55-4673-BA77-464F27518CDE}" srcOrd="0" destOrd="0" presId="urn:microsoft.com/office/officeart/2005/8/layout/hierarchy1"/>
    <dgm:cxn modelId="{6BC31086-3571-40EB-86FD-FF373CA7EEF3}" type="presParOf" srcId="{34140E40-7C55-4673-BA77-464F27518CDE}" destId="{7FF6FB9E-0806-43EB-9323-438FBA819467}" srcOrd="0" destOrd="0" presId="urn:microsoft.com/office/officeart/2005/8/layout/hierarchy1"/>
    <dgm:cxn modelId="{46B22102-BBEA-4623-AAC3-5C84E5906970}" type="presParOf" srcId="{7FF6FB9E-0806-43EB-9323-438FBA819467}" destId="{5078DE82-6AB0-474D-9535-CB9E2E71C2BF}" srcOrd="0" destOrd="0" presId="urn:microsoft.com/office/officeart/2005/8/layout/hierarchy1"/>
    <dgm:cxn modelId="{6EDA1D6B-4BE0-4098-B7BC-8FC07D2D5400}" type="presParOf" srcId="{7FF6FB9E-0806-43EB-9323-438FBA819467}" destId="{DD8A2743-3896-4F42-9095-2AC4307E66E2}" srcOrd="1" destOrd="0" presId="urn:microsoft.com/office/officeart/2005/8/layout/hierarchy1"/>
    <dgm:cxn modelId="{AA16E747-169A-4B08-85E2-48894EA86BC4}" type="presParOf" srcId="{34140E40-7C55-4673-BA77-464F27518CDE}" destId="{B6C69ADB-C586-4ACF-A818-9B1C17BC748D}" srcOrd="1" destOrd="0" presId="urn:microsoft.com/office/officeart/2005/8/layout/hierarchy1"/>
    <dgm:cxn modelId="{44DB5494-C9FA-4850-83F2-5898900CC4EC}" type="presParOf" srcId="{B6C69ADB-C586-4ACF-A818-9B1C17BC748D}" destId="{CBAA838E-6914-4E30-9E05-A7A9C5ADE2F9}" srcOrd="0" destOrd="0" presId="urn:microsoft.com/office/officeart/2005/8/layout/hierarchy1"/>
    <dgm:cxn modelId="{69B5353E-3144-4DEC-B0A3-3E5D5DADDE1D}" type="presParOf" srcId="{B6C69ADB-C586-4ACF-A818-9B1C17BC748D}" destId="{EB0FDFC1-C20B-4540-AFC5-F95B0362F531}" srcOrd="1" destOrd="0" presId="urn:microsoft.com/office/officeart/2005/8/layout/hierarchy1"/>
    <dgm:cxn modelId="{AA701766-9EE0-4652-8009-5FDC5BEFD9E3}" type="presParOf" srcId="{EB0FDFC1-C20B-4540-AFC5-F95B0362F531}" destId="{F1E5269C-85A7-441B-AD6B-444701B56010}" srcOrd="0" destOrd="0" presId="urn:microsoft.com/office/officeart/2005/8/layout/hierarchy1"/>
    <dgm:cxn modelId="{591DE85F-FB47-4BF8-A9A2-F50219F2415F}" type="presParOf" srcId="{F1E5269C-85A7-441B-AD6B-444701B56010}" destId="{DA563EA3-48D3-46D0-B68D-A51A4235941C}" srcOrd="0" destOrd="0" presId="urn:microsoft.com/office/officeart/2005/8/layout/hierarchy1"/>
    <dgm:cxn modelId="{6A33C941-9E6F-46C4-8CB7-D165F36FC290}" type="presParOf" srcId="{F1E5269C-85A7-441B-AD6B-444701B56010}" destId="{EFEB9268-E797-4F69-8E56-B45D35098714}" srcOrd="1" destOrd="0" presId="urn:microsoft.com/office/officeart/2005/8/layout/hierarchy1"/>
    <dgm:cxn modelId="{B90DB284-ADDE-43CF-BB62-5D80D8E21512}" type="presParOf" srcId="{EB0FDFC1-C20B-4540-AFC5-F95B0362F531}" destId="{824A0CB2-F604-48AC-AD02-7D44041CF740}" srcOrd="1" destOrd="0" presId="urn:microsoft.com/office/officeart/2005/8/layout/hierarchy1"/>
    <dgm:cxn modelId="{EF3FD48F-9A2B-4CB6-9C08-4042B5DD4CFA}" type="presParOf" srcId="{B6C69ADB-C586-4ACF-A818-9B1C17BC748D}" destId="{7C0E5BCA-9C3A-4859-9EFD-44628139DCA7}" srcOrd="2" destOrd="0" presId="urn:microsoft.com/office/officeart/2005/8/layout/hierarchy1"/>
    <dgm:cxn modelId="{D1D9E8DD-0F3C-42AD-A6DF-6A2F116C89F8}" type="presParOf" srcId="{B6C69ADB-C586-4ACF-A818-9B1C17BC748D}" destId="{5428F3BA-3FF2-4FFF-A1B4-981A384C6053}" srcOrd="3" destOrd="0" presId="urn:microsoft.com/office/officeart/2005/8/layout/hierarchy1"/>
    <dgm:cxn modelId="{0F6B69F8-2C45-427F-8198-CB15A07E758C}" type="presParOf" srcId="{5428F3BA-3FF2-4FFF-A1B4-981A384C6053}" destId="{2C88F6E2-58A9-457F-AD92-3937D6D56006}" srcOrd="0" destOrd="0" presId="urn:microsoft.com/office/officeart/2005/8/layout/hierarchy1"/>
    <dgm:cxn modelId="{79AC5C66-6FF5-43DD-91CB-406EC9058E7F}" type="presParOf" srcId="{2C88F6E2-58A9-457F-AD92-3937D6D56006}" destId="{B9D6C9AC-24E6-4BF1-A657-C51C1B19E7DB}" srcOrd="0" destOrd="0" presId="urn:microsoft.com/office/officeart/2005/8/layout/hierarchy1"/>
    <dgm:cxn modelId="{B3177CBB-A843-4684-958A-73B09E187B2E}" type="presParOf" srcId="{2C88F6E2-58A9-457F-AD92-3937D6D56006}" destId="{341CC215-21C5-435D-8163-C7372573831D}" srcOrd="1" destOrd="0" presId="urn:microsoft.com/office/officeart/2005/8/layout/hierarchy1"/>
    <dgm:cxn modelId="{3A57AD6F-C8F0-43BF-8B6C-A20314776302}" type="presParOf" srcId="{5428F3BA-3FF2-4FFF-A1B4-981A384C6053}" destId="{96064DF2-7024-4350-A8FF-86FEFE42D7E6}" srcOrd="1" destOrd="0" presId="urn:microsoft.com/office/officeart/2005/8/layout/hierarchy1"/>
    <dgm:cxn modelId="{687718F0-0CA6-4CB5-8BF6-1465C9FC270D}" type="presParOf" srcId="{B6C69ADB-C586-4ACF-A818-9B1C17BC748D}" destId="{86932DE1-8D02-4AB8-810E-634DC890F336}" srcOrd="4" destOrd="0" presId="urn:microsoft.com/office/officeart/2005/8/layout/hierarchy1"/>
    <dgm:cxn modelId="{0ED7FA81-1E96-4A1F-9E3D-00D989C6DB02}" type="presParOf" srcId="{B6C69ADB-C586-4ACF-A818-9B1C17BC748D}" destId="{A6EB6E25-2881-45C7-AC17-58406C19BE4F}" srcOrd="5" destOrd="0" presId="urn:microsoft.com/office/officeart/2005/8/layout/hierarchy1"/>
    <dgm:cxn modelId="{C8081B0D-6BE4-4504-AC16-E46DE64B31CD}" type="presParOf" srcId="{A6EB6E25-2881-45C7-AC17-58406C19BE4F}" destId="{2922B3FD-D9A2-43D5-9D4D-3D30939B62DA}" srcOrd="0" destOrd="0" presId="urn:microsoft.com/office/officeart/2005/8/layout/hierarchy1"/>
    <dgm:cxn modelId="{C51C90C3-DEF8-4D5E-B029-33CA878D1FDA}" type="presParOf" srcId="{2922B3FD-D9A2-43D5-9D4D-3D30939B62DA}" destId="{BDF651BC-E07E-4091-9B9F-5B1923C2F297}" srcOrd="0" destOrd="0" presId="urn:microsoft.com/office/officeart/2005/8/layout/hierarchy1"/>
    <dgm:cxn modelId="{5EAF407D-7913-44A2-99A0-50542B39706C}" type="presParOf" srcId="{2922B3FD-D9A2-43D5-9D4D-3D30939B62DA}" destId="{6470AECC-C311-47BE-BDEC-57FDE0753C4B}" srcOrd="1" destOrd="0" presId="urn:microsoft.com/office/officeart/2005/8/layout/hierarchy1"/>
    <dgm:cxn modelId="{07AF3DDB-1E6B-4210-92D7-25A6124DF90D}" type="presParOf" srcId="{A6EB6E25-2881-45C7-AC17-58406C19BE4F}" destId="{E75735A6-F2EC-4A73-A30C-78AD7B41CF7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6D5B5-7F05-4419-89E9-908787F814E1}">
      <dsp:nvSpPr>
        <dsp:cNvPr id="0" name=""/>
        <dsp:cNvSpPr/>
      </dsp:nvSpPr>
      <dsp:spPr>
        <a:xfrm>
          <a:off x="0" y="682740"/>
          <a:ext cx="8785735" cy="12604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2AB43-74A3-434C-9E82-87423BC4A22A}">
      <dsp:nvSpPr>
        <dsp:cNvPr id="0" name=""/>
        <dsp:cNvSpPr/>
      </dsp:nvSpPr>
      <dsp:spPr>
        <a:xfrm>
          <a:off x="381284" y="966339"/>
          <a:ext cx="693243" cy="6932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68F52B-DFBF-4129-B41F-714C6ACD11C7}">
      <dsp:nvSpPr>
        <dsp:cNvPr id="0" name=""/>
        <dsp:cNvSpPr/>
      </dsp:nvSpPr>
      <dsp:spPr>
        <a:xfrm>
          <a:off x="1455812" y="682740"/>
          <a:ext cx="7329922" cy="1260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97" tIns="133397" rIns="133397" bIns="13339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baseline="0"/>
            <a:t>Российские исследователи сходятся во мнении, что внедрение больших языковых моделей приводит к изменению роли преподавателя. Он всё в большей степени выступает не источником информации, а модератором и наставником, формирующим у студентов навыки критического мышления, анализа и осознанного использования цифровых инструментов.</a:t>
          </a:r>
          <a:endParaRPr lang="en-US" sz="1400" kern="1200"/>
        </a:p>
      </dsp:txBody>
      <dsp:txXfrm>
        <a:off x="1455812" y="682740"/>
        <a:ext cx="7329922" cy="1260443"/>
      </dsp:txXfrm>
    </dsp:sp>
    <dsp:sp modelId="{F8636798-32E4-4AB8-A2CC-A6909531EA94}">
      <dsp:nvSpPr>
        <dsp:cNvPr id="0" name=""/>
        <dsp:cNvSpPr/>
      </dsp:nvSpPr>
      <dsp:spPr>
        <a:xfrm>
          <a:off x="0" y="2258294"/>
          <a:ext cx="8785735" cy="12604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F9D01-FD81-4D22-AB44-A6F3C561D014}">
      <dsp:nvSpPr>
        <dsp:cNvPr id="0" name=""/>
        <dsp:cNvSpPr/>
      </dsp:nvSpPr>
      <dsp:spPr>
        <a:xfrm>
          <a:off x="381284" y="2541894"/>
          <a:ext cx="693243" cy="69324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D26DC-BB44-4D1D-B157-C3AC120222A2}">
      <dsp:nvSpPr>
        <dsp:cNvPr id="0" name=""/>
        <dsp:cNvSpPr/>
      </dsp:nvSpPr>
      <dsp:spPr>
        <a:xfrm>
          <a:off x="1455812" y="2258294"/>
          <a:ext cx="7329922" cy="12604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97" tIns="133397" rIns="133397" bIns="133397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baseline="0" dirty="0"/>
            <a:t>Также они сходятся во мнении, что LLM не являются самостоятельной педагогической технологией, а выступают инструментом, эффективность которого определяется методикой применения и уровнем цифровой компетентности пользователей </a:t>
          </a:r>
          <a:endParaRPr lang="en-US" sz="1400" kern="1200" dirty="0"/>
        </a:p>
      </dsp:txBody>
      <dsp:txXfrm>
        <a:off x="1455812" y="2258294"/>
        <a:ext cx="7329922" cy="12604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932DE1-8D02-4AB8-810E-634DC890F336}">
      <dsp:nvSpPr>
        <dsp:cNvPr id="0" name=""/>
        <dsp:cNvSpPr/>
      </dsp:nvSpPr>
      <dsp:spPr>
        <a:xfrm>
          <a:off x="4790216" y="1660087"/>
          <a:ext cx="3191549" cy="7594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7538"/>
              </a:lnTo>
              <a:lnTo>
                <a:pt x="3191549" y="517538"/>
              </a:lnTo>
              <a:lnTo>
                <a:pt x="3191549" y="759443"/>
              </a:lnTo>
            </a:path>
          </a:pathLst>
        </a:custGeom>
        <a:noFill/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0E5BCA-9C3A-4859-9EFD-44628139DCA7}">
      <dsp:nvSpPr>
        <dsp:cNvPr id="0" name=""/>
        <dsp:cNvSpPr/>
      </dsp:nvSpPr>
      <dsp:spPr>
        <a:xfrm>
          <a:off x="4744496" y="1660087"/>
          <a:ext cx="91440" cy="7594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9443"/>
              </a:lnTo>
            </a:path>
          </a:pathLst>
        </a:custGeom>
        <a:noFill/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AA838E-6914-4E30-9E05-A7A9C5ADE2F9}">
      <dsp:nvSpPr>
        <dsp:cNvPr id="0" name=""/>
        <dsp:cNvSpPr/>
      </dsp:nvSpPr>
      <dsp:spPr>
        <a:xfrm>
          <a:off x="1598666" y="1660087"/>
          <a:ext cx="3191549" cy="759443"/>
        </a:xfrm>
        <a:custGeom>
          <a:avLst/>
          <a:gdLst/>
          <a:ahLst/>
          <a:cxnLst/>
          <a:rect l="0" t="0" r="0" b="0"/>
          <a:pathLst>
            <a:path>
              <a:moveTo>
                <a:pt x="3191549" y="0"/>
              </a:moveTo>
              <a:lnTo>
                <a:pt x="3191549" y="517538"/>
              </a:lnTo>
              <a:lnTo>
                <a:pt x="0" y="517538"/>
              </a:lnTo>
              <a:lnTo>
                <a:pt x="0" y="759443"/>
              </a:lnTo>
            </a:path>
          </a:pathLst>
        </a:custGeom>
        <a:noFill/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78DE82-6AB0-474D-9535-CB9E2E71C2BF}">
      <dsp:nvSpPr>
        <dsp:cNvPr id="0" name=""/>
        <dsp:cNvSpPr/>
      </dsp:nvSpPr>
      <dsp:spPr>
        <a:xfrm>
          <a:off x="3484582" y="1932"/>
          <a:ext cx="2611268" cy="16581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8A2743-3896-4F42-9095-2AC4307E66E2}">
      <dsp:nvSpPr>
        <dsp:cNvPr id="0" name=""/>
        <dsp:cNvSpPr/>
      </dsp:nvSpPr>
      <dsp:spPr>
        <a:xfrm>
          <a:off x="3774723" y="277566"/>
          <a:ext cx="2611268" cy="1658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dirty="0"/>
            <a:t>Риски</a:t>
          </a:r>
          <a:endParaRPr lang="en-US" sz="2200" kern="1200" dirty="0"/>
        </a:p>
      </dsp:txBody>
      <dsp:txXfrm>
        <a:off x="3823289" y="326132"/>
        <a:ext cx="2514136" cy="1561023"/>
      </dsp:txXfrm>
    </dsp:sp>
    <dsp:sp modelId="{DA563EA3-48D3-46D0-B68D-A51A4235941C}">
      <dsp:nvSpPr>
        <dsp:cNvPr id="0" name=""/>
        <dsp:cNvSpPr/>
      </dsp:nvSpPr>
      <dsp:spPr>
        <a:xfrm>
          <a:off x="293032" y="2419531"/>
          <a:ext cx="2611268" cy="1658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EB9268-E797-4F69-8E56-B45D35098714}">
      <dsp:nvSpPr>
        <dsp:cNvPr id="0" name=""/>
        <dsp:cNvSpPr/>
      </dsp:nvSpPr>
      <dsp:spPr>
        <a:xfrm>
          <a:off x="583173" y="2695165"/>
          <a:ext cx="2611268" cy="1658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baseline="0"/>
            <a:t>академической нечестности</a:t>
          </a:r>
          <a:endParaRPr lang="en-US" sz="2200" kern="1200"/>
        </a:p>
      </dsp:txBody>
      <dsp:txXfrm>
        <a:off x="631739" y="2743731"/>
        <a:ext cx="2514136" cy="1561023"/>
      </dsp:txXfrm>
    </dsp:sp>
    <dsp:sp modelId="{B9D6C9AC-24E6-4BF1-A657-C51C1B19E7DB}">
      <dsp:nvSpPr>
        <dsp:cNvPr id="0" name=""/>
        <dsp:cNvSpPr/>
      </dsp:nvSpPr>
      <dsp:spPr>
        <a:xfrm>
          <a:off x="3484582" y="2419531"/>
          <a:ext cx="2611268" cy="1658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41CC215-21C5-435D-8163-C7372573831D}">
      <dsp:nvSpPr>
        <dsp:cNvPr id="0" name=""/>
        <dsp:cNvSpPr/>
      </dsp:nvSpPr>
      <dsp:spPr>
        <a:xfrm>
          <a:off x="3774723" y="2695165"/>
          <a:ext cx="2611268" cy="1658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baseline="0"/>
            <a:t>«галлюцинации» языковых моделей</a:t>
          </a:r>
          <a:endParaRPr lang="en-US" sz="2200" kern="1200"/>
        </a:p>
      </dsp:txBody>
      <dsp:txXfrm>
        <a:off x="3823289" y="2743731"/>
        <a:ext cx="2514136" cy="1561023"/>
      </dsp:txXfrm>
    </dsp:sp>
    <dsp:sp modelId="{BDF651BC-E07E-4091-9B9F-5B1923C2F297}">
      <dsp:nvSpPr>
        <dsp:cNvPr id="0" name=""/>
        <dsp:cNvSpPr/>
      </dsp:nvSpPr>
      <dsp:spPr>
        <a:xfrm>
          <a:off x="6676132" y="2419531"/>
          <a:ext cx="2611268" cy="165815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470AECC-C311-47BE-BDEC-57FDE0753C4B}">
      <dsp:nvSpPr>
        <dsp:cNvPr id="0" name=""/>
        <dsp:cNvSpPr/>
      </dsp:nvSpPr>
      <dsp:spPr>
        <a:xfrm>
          <a:off x="6966273" y="2695165"/>
          <a:ext cx="2611268" cy="16581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 baseline="0"/>
            <a:t>нормативное регулирование</a:t>
          </a:r>
          <a:endParaRPr lang="en-US" sz="2200" kern="1200"/>
        </a:p>
      </dsp:txBody>
      <dsp:txXfrm>
        <a:off x="7014839" y="2743731"/>
        <a:ext cx="2514136" cy="15610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577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071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907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844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821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04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87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36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7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71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69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D5ECD92-1D4B-4C92-88C6-1BDE7FDE9838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A5CA61B-5FC0-4C33-84D1-56B4D7DA5A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4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9855DB3-FE74-4372-A65E-059775BA7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251" y="2075823"/>
            <a:ext cx="11145498" cy="1904271"/>
          </a:xfrm>
        </p:spPr>
        <p:txBody>
          <a:bodyPr>
            <a:noAutofit/>
          </a:bodyPr>
          <a:lstStyle/>
          <a:p>
            <a:pPr algn="ctr"/>
            <a:r>
              <a:rPr lang="ru-RU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  <a:t>Использование больших языковых моделей в сфере образования</a:t>
            </a:r>
            <a:endParaRPr lang="ru-RU" sz="3000" b="1" dirty="0">
              <a:solidFill>
                <a:schemeClr val="tx1"/>
              </a:solidFill>
              <a:latin typeface="Helvetica" pitchFamily="34" charset="0"/>
              <a:ea typeface="Gungsuh" panose="02030600000101010101" pitchFamily="18" charset="-127"/>
              <a:cs typeface="Helvetica" pitchFamily="34" charset="0"/>
            </a:endParaRPr>
          </a:p>
        </p:txBody>
      </p:sp>
      <p:sp>
        <p:nvSpPr>
          <p:cNvPr id="13" name="Подзаголовок 3">
            <a:extLst>
              <a:ext uri="{FF2B5EF4-FFF2-40B4-BE49-F238E27FC236}">
                <a16:creationId xmlns:a16="http://schemas.microsoft.com/office/drawing/2014/main" id="{DBA30209-B03D-4926-9971-C0F90B608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388" y="5005613"/>
            <a:ext cx="5492280" cy="1008113"/>
          </a:xfrm>
        </p:spPr>
        <p:txBody>
          <a:bodyPr>
            <a:normAutofit/>
          </a:bodyPr>
          <a:lstStyle/>
          <a:p>
            <a:pPr algn="r"/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Выполнил: Маслов А.Н.</a:t>
            </a:r>
            <a:b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</a:br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Группа ИД23-1</a:t>
            </a:r>
            <a:endParaRPr lang="ru-RU" sz="1800" dirty="0">
              <a:solidFill>
                <a:schemeClr val="tx1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3637A1B5-EC37-4D6A-986E-EA7F6FF17091}"/>
              </a:ext>
            </a:extLst>
          </p:cNvPr>
          <p:cNvSpPr txBox="1">
            <a:spLocks/>
          </p:cNvSpPr>
          <p:nvPr/>
        </p:nvSpPr>
        <p:spPr>
          <a:xfrm>
            <a:off x="318655" y="300321"/>
            <a:ext cx="11554690" cy="10451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Федеральное государственное образовательное бюджетное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учреждение высшего образования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«Финансовый университет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при Правительстве Российской Федерации»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(Финансовый университет)</a:t>
            </a:r>
          </a:p>
        </p:txBody>
      </p:sp>
      <p:sp>
        <p:nvSpPr>
          <p:cNvPr id="15" name="Подзаголовок 3">
            <a:extLst>
              <a:ext uri="{FF2B5EF4-FFF2-40B4-BE49-F238E27FC236}">
                <a16:creationId xmlns:a16="http://schemas.microsoft.com/office/drawing/2014/main" id="{43434B29-5E19-4AA4-AB34-54838E05F8B2}"/>
              </a:ext>
            </a:extLst>
          </p:cNvPr>
          <p:cNvSpPr txBox="1">
            <a:spLocks/>
          </p:cNvSpPr>
          <p:nvPr/>
        </p:nvSpPr>
        <p:spPr>
          <a:xfrm>
            <a:off x="1072670" y="6013726"/>
            <a:ext cx="10316816" cy="440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126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199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1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1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Москва </a:t>
            </a: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20</a:t>
            </a:r>
            <a:r>
              <a:rPr lang="ru-RU" sz="180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26 </a:t>
            </a:r>
            <a:endParaRPr lang="ru-RU" sz="1800" dirty="0">
              <a:solidFill>
                <a:schemeClr val="tx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A003531-51BF-4404-B3AB-FEEE09BBFFE4}"/>
              </a:ext>
            </a:extLst>
          </p:cNvPr>
          <p:cNvSpPr/>
          <p:nvPr/>
        </p:nvSpPr>
        <p:spPr>
          <a:xfrm>
            <a:off x="2831975" y="1542884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/>
              <a:t>Кафедра информационных технологий</a:t>
            </a:r>
            <a:endParaRPr lang="ru-RU" sz="1600" dirty="0">
              <a:latin typeface="Helvetica" pitchFamily="2" charset="0"/>
              <a:ea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71BF190-D41F-43AC-A7DF-852237B244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231658"/>
            <a:ext cx="2267266" cy="8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5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DC2FFD-23E5-E118-987A-0A9DB12A0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539087"/>
            <a:ext cx="4534047" cy="1584895"/>
          </a:xfrm>
        </p:spPr>
        <p:txBody>
          <a:bodyPr>
            <a:normAutofit/>
          </a:bodyPr>
          <a:lstStyle/>
          <a:p>
            <a:r>
              <a:rPr lang="ru-RU" dirty="0"/>
              <a:t>Введение</a:t>
            </a:r>
          </a:p>
        </p:txBody>
      </p:sp>
      <p:pic>
        <p:nvPicPr>
          <p:cNvPr id="1026" name="Picture 2" descr="ChatGPT — Википедия">
            <a:extLst>
              <a:ext uri="{FF2B5EF4-FFF2-40B4-BE49-F238E27FC236}">
                <a16:creationId xmlns:a16="http://schemas.microsoft.com/office/drawing/2014/main" id="{E17C653F-148F-B6F6-5C50-EC781DE49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2" r="5556"/>
          <a:stretch>
            <a:fillRect/>
          </a:stretch>
        </p:blipFill>
        <p:spPr bwMode="auto">
          <a:xfrm>
            <a:off x="20" y="10"/>
            <a:ext cx="60947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F1C79661-1BB9-C32B-41FA-CDC61FBB2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3" y="2438399"/>
            <a:ext cx="4572002" cy="3880514"/>
          </a:xfrm>
        </p:spPr>
        <p:txBody>
          <a:bodyPr>
            <a:normAutofit/>
          </a:bodyPr>
          <a:lstStyle/>
          <a:p>
            <a:r>
              <a:rPr lang="ru-RU" sz="1700"/>
              <a:t>Активное развитие технологий искусственного интеллекта в последние годы привело к появлению больших языковых моделей, способных генерировать связный текст, отвечать на вопросы, анализировать и обобщать информацию. Эти возможности обусловили повышенный интерес к применению LLM в образовательной сфере. В российской научной литературе данная проблематика стала активно обсуждаться с 2023 года, что связано с распространением моделей типа ChatGPT и аналогичных систем</a:t>
            </a:r>
            <a:endParaRPr lang="ru-RU" sz="1700" dirty="0"/>
          </a:p>
        </p:txBody>
      </p:sp>
    </p:spTree>
    <p:extLst>
      <p:ext uri="{BB962C8B-B14F-4D97-AF65-F5344CB8AC3E}">
        <p14:creationId xmlns:p14="http://schemas.microsoft.com/office/powerpoint/2010/main" val="117835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6378C3-EA41-4A0B-8144-97AF179E9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869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C575D-863A-449B-AA18-A22D2A84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752" y="0"/>
            <a:ext cx="5165308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E28EA-0FE0-7806-72E9-E92E14848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5993" y="643465"/>
            <a:ext cx="4419074" cy="5560272"/>
          </a:xfrm>
        </p:spPr>
        <p:txBody>
          <a:bodyPr anchor="ctr">
            <a:normAutofit/>
          </a:bodyPr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D55563-220C-C6DB-CB19-FEF5D0191F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248" y="643465"/>
            <a:ext cx="4009730" cy="5528735"/>
          </a:xfrm>
        </p:spPr>
        <p:txBody>
          <a:bodyPr anchor="ctr">
            <a:noAutofit/>
          </a:bodyPr>
          <a:lstStyle/>
          <a:p>
            <a:r>
              <a:rPr lang="ru-RU" sz="2800" dirty="0"/>
              <a:t>Обзор и анализ российских научных публикаций, посвящённых использованию больших языковых моделей в образовании, а также выявление основных тенденций и проблем, отражённых в отечественных исследованиях.</a:t>
            </a:r>
          </a:p>
          <a:p>
            <a:endParaRPr lang="ru-RU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2A87A1-E008-492C-8D91-EA0B5488D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581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08F2B-35D4-75F4-05A6-B1D03525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ru-RU" dirty="0"/>
              <a:t>Влияние</a:t>
            </a:r>
          </a:p>
        </p:txBody>
      </p:sp>
      <p:graphicFrame>
        <p:nvGraphicFramePr>
          <p:cNvPr id="15" name="Объект 2">
            <a:extLst>
              <a:ext uri="{FF2B5EF4-FFF2-40B4-BE49-F238E27FC236}">
                <a16:creationId xmlns:a16="http://schemas.microsoft.com/office/drawing/2014/main" id="{A8BBC859-A2D4-7B38-8F3A-34E426146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3176851"/>
              </p:ext>
            </p:extLst>
          </p:nvPr>
        </p:nvGraphicFramePr>
        <p:xfrm>
          <a:off x="1262063" y="2013055"/>
          <a:ext cx="8785735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673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C7FFA269-9AFA-5B0F-CA9F-A271956F7E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269624"/>
              </p:ext>
            </p:extLst>
          </p:nvPr>
        </p:nvGraphicFramePr>
        <p:xfrm>
          <a:off x="1249681" y="1859280"/>
          <a:ext cx="9870574" cy="43552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187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49DEB-4552-3387-65A1-8A572F97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ru-RU" sz="2800">
                <a:solidFill>
                  <a:srgbClr val="FFFFFF"/>
                </a:solidFill>
              </a:rPr>
              <a:t>Перспективные направления</a:t>
            </a: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048353-957A-47BD-1D31-85C1AA7B2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/>
          </a:bodyPr>
          <a:lstStyle/>
          <a:p>
            <a:r>
              <a:rPr lang="ru-RU" sz="2200"/>
              <a:t>Среди перспективных направлений внедрения больших языковых моделей в образовательную практику в России выделяются: разработка отечественных языковых моделей, учитывающих специфику русского языка и образовательных стандартов; создание локальных корпоративных решений для вузов; интеграция LLM в электронные образовательные среды и системы дистанционного обучения. Отдельно подчёркивается важность методического сопровождения и подготовки преподавателей к использованию данных технологий.</a:t>
            </a:r>
          </a:p>
          <a:p>
            <a:endParaRPr lang="ru-RU" sz="2200"/>
          </a:p>
        </p:txBody>
      </p:sp>
    </p:spTree>
    <p:extLst>
      <p:ext uri="{BB962C8B-B14F-4D97-AF65-F5344CB8AC3E}">
        <p14:creationId xmlns:p14="http://schemas.microsoft.com/office/powerpoint/2010/main" val="66115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7AAB3C-9318-C79A-E6A6-E8FBDB69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ru-RU" sz="2800"/>
              <a:t>Сравнение преимуществ и недостатков разных больших языковых моделей</a:t>
            </a:r>
            <a:br>
              <a:rPr lang="ru-RU" sz="2800"/>
            </a:br>
            <a:endParaRPr lang="ru-RU" sz="2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3A3DAF9-40C5-B4D4-827C-F1D6ED65BC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54892"/>
              </p:ext>
            </p:extLst>
          </p:nvPr>
        </p:nvGraphicFramePr>
        <p:xfrm>
          <a:off x="1071746" y="1508760"/>
          <a:ext cx="10556373" cy="49834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2569">
                  <a:extLst>
                    <a:ext uri="{9D8B030D-6E8A-4147-A177-3AD203B41FA5}">
                      <a16:colId xmlns:a16="http://schemas.microsoft.com/office/drawing/2014/main" val="1756864948"/>
                    </a:ext>
                  </a:extLst>
                </a:gridCol>
                <a:gridCol w="1837254">
                  <a:extLst>
                    <a:ext uri="{9D8B030D-6E8A-4147-A177-3AD203B41FA5}">
                      <a16:colId xmlns:a16="http://schemas.microsoft.com/office/drawing/2014/main" val="2888553393"/>
                    </a:ext>
                  </a:extLst>
                </a:gridCol>
                <a:gridCol w="2602181">
                  <a:extLst>
                    <a:ext uri="{9D8B030D-6E8A-4147-A177-3AD203B41FA5}">
                      <a16:colId xmlns:a16="http://schemas.microsoft.com/office/drawing/2014/main" val="2670324195"/>
                    </a:ext>
                  </a:extLst>
                </a:gridCol>
                <a:gridCol w="2362184">
                  <a:extLst>
                    <a:ext uri="{9D8B030D-6E8A-4147-A177-3AD203B41FA5}">
                      <a16:colId xmlns:a16="http://schemas.microsoft.com/office/drawing/2014/main" val="2312963906"/>
                    </a:ext>
                  </a:extLst>
                </a:gridCol>
                <a:gridCol w="2222185">
                  <a:extLst>
                    <a:ext uri="{9D8B030D-6E8A-4147-A177-3AD203B41FA5}">
                      <a16:colId xmlns:a16="http://schemas.microsoft.com/office/drawing/2014/main" val="1339342657"/>
                    </a:ext>
                  </a:extLst>
                </a:gridCol>
              </a:tblGrid>
              <a:tr h="34007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Название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Разработчик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Плюсы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Минусы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Особенности в обучении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3209960084"/>
                  </a:ext>
                </a:extLst>
              </a:tr>
              <a:tr h="96770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ChatGPT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OpenAI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Высокое качество ответов, универсальность, поддержка диалога, генерация учебных материалов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Возможны «галлюцинации», риск списывания, платные функции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Персонализация обучения, помощь в написании работ, объяснение сложных тем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2344786376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DeepSeek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DeepSeek AI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Сильные математические и логические способности, хорош в программировании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Менее развитый диалог, ограниченная адаптация под образование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Полезен для технических дисциплин и решения задач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693744201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Qwen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Alibaba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Хорошая мультимодальность, поддержка разных языков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Меньше распространён в образовании, чем ChatGPT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Подходит для работы с текстами и мультимедиа в обучении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3407876208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Gemini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Google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Доступ к актуальной информации, мультимодальность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Иногда поверхностные ответы, зависит от экосистемы Google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Полезен для поиска и анализа информации, обучения через примеры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3005292699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Алиса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Яндекс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Хорошо понимает русский язык, доступность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Ограниченная глубина ответов, не специализирована как LLM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Подходит для школьного уровня, быстрые ответы и помощь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275627292"/>
                  </a:ext>
                </a:extLst>
              </a:tr>
              <a:tr h="73514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Гигачат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Сбер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Адаптация под русский язык и контекст, локальные решения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>
                          <a:effectLst/>
                        </a:rPr>
                        <a:t>Ограниченность по сравнению с западными моделями</a:t>
                      </a:r>
                      <a:endParaRPr lang="ru-RU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effectLst/>
                        </a:rPr>
                        <a:t>Перспективен для внедрения в российские образовательные системы</a:t>
                      </a:r>
                      <a:endParaRPr lang="ru-RU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0565" marR="40565" marT="0" marB="0"/>
                </a:tc>
                <a:extLst>
                  <a:ext uri="{0D108BD9-81ED-4DB2-BD59-A6C34878D82A}">
                    <a16:rowId xmlns:a16="http://schemas.microsoft.com/office/drawing/2014/main" val="395416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3503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AA4AF3A-8A25-D1D0-70CE-1DA6C8C02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9360" y="2301240"/>
            <a:ext cx="9692640" cy="1325562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048406369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219</TotalTime>
  <Words>460</Words>
  <Application>Microsoft Office PowerPoint</Application>
  <PresentationFormat>Широкоэкранный</PresentationFormat>
  <Paragraphs>59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Arial</vt:lpstr>
      <vt:lpstr>Century Schoolbook</vt:lpstr>
      <vt:lpstr>Helvetica</vt:lpstr>
      <vt:lpstr>Wingdings 2</vt:lpstr>
      <vt:lpstr>Вид</vt:lpstr>
      <vt:lpstr>Использование больших языковых моделей в сфере образования</vt:lpstr>
      <vt:lpstr>Введение</vt:lpstr>
      <vt:lpstr>Цель</vt:lpstr>
      <vt:lpstr>Влияние</vt:lpstr>
      <vt:lpstr>Презентация PowerPoint</vt:lpstr>
      <vt:lpstr>Перспективные направления</vt:lpstr>
      <vt:lpstr>Сравнение преимуществ и недостатков разных больших языковых моделей 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Aknas Macefg</dc:creator>
  <cp:lastModifiedBy>Aknas Macefg</cp:lastModifiedBy>
  <cp:revision>5</cp:revision>
  <dcterms:created xsi:type="dcterms:W3CDTF">2026-03-31T13:14:27Z</dcterms:created>
  <dcterms:modified xsi:type="dcterms:W3CDTF">2026-04-02T13:47:38Z</dcterms:modified>
</cp:coreProperties>
</file>